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6" r:id="rId4"/>
  </p:sldMasterIdLst>
  <p:notesMasterIdLst>
    <p:notesMasterId r:id="rId14"/>
  </p:notesMasterIdLst>
  <p:sldIdLst>
    <p:sldId id="256" r:id="rId5"/>
    <p:sldId id="257" r:id="rId6"/>
    <p:sldId id="263" r:id="rId7"/>
    <p:sldId id="262" r:id="rId8"/>
    <p:sldId id="259" r:id="rId9"/>
    <p:sldId id="258" r:id="rId10"/>
    <p:sldId id="264" r:id="rId11"/>
    <p:sldId id="260"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66" autoAdjust="0"/>
    <p:restoredTop sz="94660"/>
  </p:normalViewPr>
  <p:slideViewPr>
    <p:cSldViewPr snapToGrid="0">
      <p:cViewPr varScale="1">
        <p:scale>
          <a:sx n="105" d="100"/>
          <a:sy n="105" d="100"/>
        </p:scale>
        <p:origin x="232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F331C6-1C20-482A-99D3-B117C1939C26}" type="datetimeFigureOut">
              <a:rPr lang="ro-RO" smtClean="0"/>
              <a:t>19.05.2024</a:t>
            </a:fld>
            <a:endParaRPr lang="ro-R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39989-FF6F-4112-9B67-2C8B8E67771E}" type="slidenum">
              <a:rPr lang="ro-RO" smtClean="0"/>
              <a:t>‹#›</a:t>
            </a:fld>
            <a:endParaRPr lang="ro-RO"/>
          </a:p>
        </p:txBody>
      </p:sp>
    </p:spTree>
    <p:extLst>
      <p:ext uri="{BB962C8B-B14F-4D97-AF65-F5344CB8AC3E}">
        <p14:creationId xmlns:p14="http://schemas.microsoft.com/office/powerpoint/2010/main" val="962606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BEF823-48A5-43FC-BE03-E79964288B41}" type="datetimeFigureOut">
              <a:rPr lang="en-US" smtClean="0"/>
              <a:t>5/19/2024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11334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779377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71640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28279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8" name="Footer Placeholder 7"/>
          <p:cNvSpPr>
            <a:spLocks noGrp="1"/>
          </p:cNvSpPr>
          <p:nvPr>
            <p:ph type="ftr" sz="quarter" idx="11"/>
          </p:nvPr>
        </p:nvSpPr>
        <p:spPr/>
        <p:txBody>
          <a:bodyPr/>
          <a:lstStyle/>
          <a:p>
            <a:pPr algn="l"/>
            <a:endParaRPr lang="en-US" dirty="0"/>
          </a:p>
        </p:txBody>
      </p:sp>
      <p:sp>
        <p:nvSpPr>
          <p:cNvPr id="9" name="Slide Number Placeholder 8"/>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476017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4" name="Footer Placeholder 3"/>
          <p:cNvSpPr>
            <a:spLocks noGrp="1"/>
          </p:cNvSpPr>
          <p:nvPr>
            <p:ph type="ftr" sz="quarter" idx="11"/>
          </p:nvPr>
        </p:nvSpPr>
        <p:spPr/>
        <p:txBody>
          <a:bodyPr/>
          <a:lstStyle/>
          <a:p>
            <a:pPr algn="l"/>
            <a:endParaRPr lang="en-US" dirty="0"/>
          </a:p>
        </p:txBody>
      </p:sp>
      <p:sp>
        <p:nvSpPr>
          <p:cNvPr id="5" name="Slide Number Placeholder 4"/>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281903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3" name="Footer Placeholder 2"/>
          <p:cNvSpPr>
            <a:spLocks noGrp="1"/>
          </p:cNvSpPr>
          <p:nvPr>
            <p:ph type="ftr" sz="quarter" idx="11"/>
          </p:nvPr>
        </p:nvSpPr>
        <p:spPr/>
        <p:txBody>
          <a:bodyPr/>
          <a:lstStyle/>
          <a:p>
            <a:pPr algn="l"/>
            <a:endParaRPr lang="en-US" dirty="0"/>
          </a:p>
        </p:txBody>
      </p:sp>
      <p:sp>
        <p:nvSpPr>
          <p:cNvPr id="4" name="Slide Number Placeholder 3"/>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6911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80300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471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284865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5/19/2024</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586534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pPr algn="r"/>
            <a:fld id="{53BEF823-48A5-43FC-BE03-E79964288B41}" type="datetimeFigureOut">
              <a:rPr lang="en-US" smtClean="0"/>
              <a:pPr algn="r"/>
              <a:t>5/19/2024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pPr algn="l"/>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747256192"/>
      </p:ext>
    </p:extLst>
  </p:cSld>
  <p:clrMap bg1="dk1" tx1="lt1" bg2="dk2" tx2="lt2" accent1="accent1" accent2="accent2" accent3="accent3" accent4="accent4" accent5="accent5" accent6="accent6" hlink="hlink" folHlink="folHlink"/>
  <p:sldLayoutIdLst>
    <p:sldLayoutId id="2147483917" r:id="rId1"/>
    <p:sldLayoutId id="2147483918" r:id="rId2"/>
    <p:sldLayoutId id="2147483919" r:id="rId3"/>
    <p:sldLayoutId id="2147483920" r:id="rId4"/>
    <p:sldLayoutId id="2147483921" r:id="rId5"/>
    <p:sldLayoutId id="2147483922" r:id="rId6"/>
    <p:sldLayoutId id="2147483923" r:id="rId7"/>
    <p:sldLayoutId id="2147483924" r:id="rId8"/>
    <p:sldLayoutId id="2147483925" r:id="rId9"/>
    <p:sldLayoutId id="2147483926" r:id="rId10"/>
    <p:sldLayoutId id="21474839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C020CB3-CD17-78C3-6B0A-455B93BFDFCB}"/>
              </a:ext>
            </a:extLst>
          </p:cNvPr>
          <p:cNvPicPr>
            <a:picLocks noChangeAspect="1"/>
          </p:cNvPicPr>
          <p:nvPr/>
        </p:nvPicPr>
        <p:blipFill rotWithShape="1">
          <a:blip r:embed="rId2">
            <a:alphaModFix amt="40000"/>
          </a:blip>
          <a:srcRect b="3434"/>
          <a:stretch/>
        </p:blipFill>
        <p:spPr>
          <a:xfrm>
            <a:off x="0" y="10"/>
            <a:ext cx="12191980" cy="6857990"/>
          </a:xfrm>
          <a:prstGeom prst="rect">
            <a:avLst/>
          </a:prstGeom>
        </p:spPr>
      </p:pic>
      <p:pic>
        <p:nvPicPr>
          <p:cNvPr id="6" name="Picture 5" descr="A person in a red suit&#10;&#10;Description automatically generated">
            <a:extLst>
              <a:ext uri="{FF2B5EF4-FFF2-40B4-BE49-F238E27FC236}">
                <a16:creationId xmlns:a16="http://schemas.microsoft.com/office/drawing/2014/main" id="{26DF1D6B-465F-8619-58B8-F93D8F2838B4}"/>
              </a:ext>
            </a:extLst>
          </p:cNvPr>
          <p:cNvPicPr>
            <a:picLocks noChangeAspect="1"/>
          </p:cNvPicPr>
          <p:nvPr/>
        </p:nvPicPr>
        <p:blipFill rotWithShape="1">
          <a:blip r:embed="rId3">
            <a:extLst>
              <a:ext uri="{28A0092B-C50C-407E-A947-70E740481C1C}">
                <a14:useLocalDpi xmlns:a14="http://schemas.microsoft.com/office/drawing/2010/main" val="0"/>
              </a:ext>
            </a:extLst>
          </a:blip>
          <a:srcRect b="50000"/>
          <a:stretch/>
        </p:blipFill>
        <p:spPr>
          <a:xfrm>
            <a:off x="5588000" y="1781175"/>
            <a:ext cx="6769100" cy="5076825"/>
          </a:xfrm>
          <a:prstGeom prst="rect">
            <a:avLst/>
          </a:prstGeom>
          <a:effectLst>
            <a:softEdge rad="330200"/>
          </a:effectLst>
        </p:spPr>
      </p:pic>
      <p:sp>
        <p:nvSpPr>
          <p:cNvPr id="2" name="Title 1">
            <a:extLst>
              <a:ext uri="{FF2B5EF4-FFF2-40B4-BE49-F238E27FC236}">
                <a16:creationId xmlns:a16="http://schemas.microsoft.com/office/drawing/2014/main" id="{F8E04B0C-1DE4-5442-3BEB-1EF6A631BE8B}"/>
              </a:ext>
            </a:extLst>
          </p:cNvPr>
          <p:cNvSpPr>
            <a:spLocks noGrp="1"/>
          </p:cNvSpPr>
          <p:nvPr>
            <p:ph type="ctrTitle"/>
          </p:nvPr>
        </p:nvSpPr>
        <p:spPr>
          <a:xfrm>
            <a:off x="965200" y="965200"/>
            <a:ext cx="7200900" cy="3564869"/>
          </a:xfrm>
        </p:spPr>
        <p:txBody>
          <a:bodyPr>
            <a:normAutofit fontScale="90000"/>
          </a:bodyPr>
          <a:lstStyle/>
          <a:p>
            <a:pPr algn="l"/>
            <a:r>
              <a:rPr lang="en-US" sz="8100" b="1" i="0" dirty="0">
                <a:ln w="22225">
                  <a:solidFill>
                    <a:schemeClr val="tx1"/>
                  </a:solidFill>
                  <a:miter lim="800000"/>
                </a:ln>
                <a:noFill/>
                <a:latin typeface="Arial" panose="020B0604020202020204" pitchFamily="34" charset="0"/>
                <a:cs typeface="Arial" panose="020B0604020202020204" pitchFamily="34" charset="0"/>
              </a:rPr>
              <a:t>Better Call Saul API using Bluetooth Classic</a:t>
            </a:r>
            <a:endParaRPr lang="ro-RO" sz="8100" b="1" i="0" dirty="0">
              <a:ln w="22225">
                <a:solidFill>
                  <a:schemeClr val="tx1"/>
                </a:solidFill>
                <a:miter lim="800000"/>
              </a:ln>
              <a:no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33BF971F-8C1E-FEF5-EEED-887224A317CD}"/>
              </a:ext>
            </a:extLst>
          </p:cNvPr>
          <p:cNvSpPr>
            <a:spLocks noGrp="1"/>
          </p:cNvSpPr>
          <p:nvPr>
            <p:ph type="subTitle" idx="1"/>
          </p:nvPr>
        </p:nvSpPr>
        <p:spPr>
          <a:xfrm>
            <a:off x="965200" y="5088706"/>
            <a:ext cx="10261600" cy="1202995"/>
          </a:xfrm>
        </p:spPr>
        <p:txBody>
          <a:bodyPr>
            <a:normAutofit/>
          </a:bodyPr>
          <a:lstStyle/>
          <a:p>
            <a:pPr algn="l"/>
            <a:r>
              <a:rPr lang="en-US" sz="2000">
                <a:latin typeface="Arial" panose="020B0604020202020204" pitchFamily="34" charset="0"/>
                <a:cs typeface="Arial" panose="020B0604020202020204" pitchFamily="34" charset="0"/>
              </a:rPr>
              <a:t>Vincene Eduard</a:t>
            </a:r>
          </a:p>
          <a:p>
            <a:pPr algn="l"/>
            <a:r>
              <a:rPr lang="en-US" sz="2000">
                <a:latin typeface="Arial" panose="020B0604020202020204" pitchFamily="34" charset="0"/>
                <a:cs typeface="Arial" panose="020B0604020202020204" pitchFamily="34" charset="0"/>
              </a:rPr>
              <a:t>Enciu Andrei</a:t>
            </a:r>
            <a:r>
              <a:rPr lang="ro-RO" sz="2000">
                <a:latin typeface="Arial" panose="020B0604020202020204" pitchFamily="34" charset="0"/>
                <a:cs typeface="Arial" panose="020B0604020202020204" pitchFamily="34" charset="0"/>
              </a:rPr>
              <a:t> Eduard</a:t>
            </a:r>
            <a:endParaRPr lang="en-US" sz="2000">
              <a:latin typeface="Arial" panose="020B0604020202020204" pitchFamily="34" charset="0"/>
              <a:cs typeface="Arial" panose="020B0604020202020204" pitchFamily="34" charset="0"/>
            </a:endParaRPr>
          </a:p>
          <a:p>
            <a:pPr algn="l"/>
            <a:r>
              <a:rPr lang="en-US" sz="2000">
                <a:latin typeface="Arial" panose="020B0604020202020204" pitchFamily="34" charset="0"/>
                <a:cs typeface="Arial" panose="020B0604020202020204" pitchFamily="34" charset="0"/>
              </a:rPr>
              <a:t>ETTI-CTI-413A</a:t>
            </a:r>
            <a:endParaRPr lang="ro-RO"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12272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spider web in the dark&#10;&#10;Description automatically generated">
            <a:extLst>
              <a:ext uri="{FF2B5EF4-FFF2-40B4-BE49-F238E27FC236}">
                <a16:creationId xmlns:a16="http://schemas.microsoft.com/office/drawing/2014/main" id="{AD95C03D-9B1F-E195-FE68-C5E5A3305F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90630C-E0A3-0859-A993-EF6031840017}"/>
              </a:ext>
            </a:extLst>
          </p:cNvPr>
          <p:cNvSpPr>
            <a:spLocks noGrp="1"/>
          </p:cNvSpPr>
          <p:nvPr>
            <p:ph type="title"/>
          </p:nvPr>
        </p:nvSpPr>
        <p:spPr>
          <a:xfrm>
            <a:off x="763050" y="1734312"/>
            <a:ext cx="10515600" cy="4352798"/>
          </a:xfrm>
        </p:spPr>
        <p:txBody>
          <a:bodyPr>
            <a:noAutofit/>
          </a:bodyPr>
          <a:lstStyle/>
          <a:p>
            <a:pPr algn="just">
              <a:lnSpc>
                <a:spcPct val="100000"/>
              </a:lnSpc>
            </a:pPr>
            <a:br>
              <a:rPr lang="ro-RO" sz="3200" b="0" i="0" dirty="0">
                <a:effectLst/>
                <a:latin typeface="Arial" panose="020B0604020202020204" pitchFamily="34" charset="0"/>
                <a:cs typeface="Arial" panose="020B0604020202020204" pitchFamily="34" charset="0"/>
              </a:rPr>
            </a:br>
            <a:br>
              <a:rPr lang="ro-RO" sz="3200" b="0" i="0" dirty="0">
                <a:effectLst/>
                <a:latin typeface="Arial" panose="020B0604020202020204" pitchFamily="34" charset="0"/>
                <a:cs typeface="Arial" panose="020B0604020202020204" pitchFamily="34" charset="0"/>
              </a:rPr>
            </a:br>
            <a:br>
              <a:rPr lang="ro-RO" sz="3200" b="0" i="0" dirty="0">
                <a:effectLst/>
                <a:latin typeface="Arial" panose="020B0604020202020204" pitchFamily="34" charset="0"/>
                <a:cs typeface="Arial" panose="020B0604020202020204" pitchFamily="34" charset="0"/>
              </a:rPr>
            </a:br>
            <a:br>
              <a:rPr lang="ro-RO" sz="3200" b="0" i="0" dirty="0">
                <a:effectLst/>
                <a:latin typeface="Arial" panose="020B0604020202020204" pitchFamily="34" charset="0"/>
                <a:cs typeface="Arial" panose="020B0604020202020204" pitchFamily="34" charset="0"/>
              </a:rPr>
            </a:br>
            <a:br>
              <a:rPr lang="en-US" sz="3200" b="0" i="0" dirty="0">
                <a:effectLst/>
                <a:latin typeface="Arial" panose="020B0604020202020204" pitchFamily="34" charset="0"/>
                <a:cs typeface="Arial" panose="020B0604020202020204" pitchFamily="34" charset="0"/>
              </a:rPr>
            </a:br>
            <a:br>
              <a:rPr lang="en-US" sz="3200" b="0" i="0" dirty="0">
                <a:effectLst/>
                <a:latin typeface="Arial" panose="020B0604020202020204" pitchFamily="34" charset="0"/>
                <a:cs typeface="Arial" panose="020B0604020202020204" pitchFamily="34" charset="0"/>
              </a:rPr>
            </a:br>
            <a:br>
              <a:rPr lang="en-US" sz="3200" b="0" i="0" dirty="0">
                <a:effectLst/>
                <a:latin typeface="Arial" panose="020B0604020202020204" pitchFamily="34" charset="0"/>
                <a:cs typeface="Arial" panose="020B0604020202020204" pitchFamily="34" charset="0"/>
              </a:rPr>
            </a:br>
            <a:br>
              <a:rPr lang="en-US" sz="3200" b="0" i="0" dirty="0">
                <a:effectLst/>
                <a:latin typeface="Arial" panose="020B0604020202020204" pitchFamily="34" charset="0"/>
                <a:cs typeface="Arial" panose="020B0604020202020204" pitchFamily="34" charset="0"/>
              </a:rPr>
            </a:br>
            <a:br>
              <a:rPr lang="en-US" sz="3200" b="0" i="0" dirty="0">
                <a:effectLst/>
                <a:latin typeface="Arial" panose="020B0604020202020204" pitchFamily="34" charset="0"/>
                <a:cs typeface="Arial" panose="020B0604020202020204" pitchFamily="34" charset="0"/>
              </a:rPr>
            </a:br>
            <a:r>
              <a:rPr lang="ro-RO" sz="3200" b="0" i="0" dirty="0">
                <a:effectLst/>
                <a:latin typeface="Arial" panose="020B0604020202020204" pitchFamily="34" charset="0"/>
                <a:cs typeface="Arial" panose="020B0604020202020204" pitchFamily="34" charset="0"/>
              </a:rPr>
              <a:t>	Acest proiect presupune conectarea telefonului mobil prin intermediul Bluetooth la aplicatia </a:t>
            </a:r>
            <a:r>
              <a:rPr lang="en-US" sz="3200" b="0" i="0" dirty="0">
                <a:effectLst/>
                <a:latin typeface="Arial" panose="020B0604020202020204" pitchFamily="34" charset="0"/>
                <a:cs typeface="Arial" panose="020B0604020202020204" pitchFamily="34" charset="0"/>
              </a:rPr>
              <a:t>“</a:t>
            </a:r>
            <a:r>
              <a:rPr lang="ro-RO" sz="3200" b="0" i="0" dirty="0">
                <a:effectLst/>
                <a:latin typeface="Arial" panose="020B0604020202020204" pitchFamily="34" charset="0"/>
                <a:cs typeface="Arial" panose="020B0604020202020204" pitchFamily="34" charset="0"/>
              </a:rPr>
              <a:t>Proiect IA</a:t>
            </a:r>
            <a:r>
              <a:rPr lang="en-US" sz="3200" b="0" i="0" dirty="0">
                <a:effectLst/>
                <a:latin typeface="Arial" panose="020B0604020202020204" pitchFamily="34" charset="0"/>
                <a:cs typeface="Arial" panose="020B0604020202020204" pitchFamily="34" charset="0"/>
              </a:rPr>
              <a:t>” </a:t>
            </a:r>
            <a:r>
              <a:rPr lang="en-US" sz="3200" b="0" i="0" dirty="0" err="1">
                <a:effectLst/>
                <a:latin typeface="Arial" panose="020B0604020202020204" pitchFamily="34" charset="0"/>
                <a:cs typeface="Arial" panose="020B0604020202020204" pitchFamily="34" charset="0"/>
              </a:rPr>
              <a:t>prin</a:t>
            </a:r>
            <a:r>
              <a:rPr lang="en-US" sz="3200" b="0" i="0" dirty="0">
                <a:effectLst/>
                <a:latin typeface="Arial" panose="020B0604020202020204" pitchFamily="34" charset="0"/>
                <a:cs typeface="Arial" panose="020B0604020202020204" pitchFamily="34" charset="0"/>
              </a:rPr>
              <a:t> care </a:t>
            </a:r>
            <a:r>
              <a:rPr lang="en-US" sz="3200" b="0" i="0" dirty="0" err="1">
                <a:effectLst/>
                <a:latin typeface="Arial" panose="020B0604020202020204" pitchFamily="34" charset="0"/>
                <a:cs typeface="Arial" panose="020B0604020202020204" pitchFamily="34" charset="0"/>
              </a:rPr>
              <a:t>este</a:t>
            </a:r>
            <a:r>
              <a:rPr lang="en-US" sz="3200" b="0" i="0" dirty="0">
                <a:effectLst/>
                <a:latin typeface="Arial" panose="020B0604020202020204" pitchFamily="34" charset="0"/>
                <a:cs typeface="Arial" panose="020B0604020202020204" pitchFamily="34" charset="0"/>
              </a:rPr>
              <a:t> </a:t>
            </a:r>
            <a:r>
              <a:rPr lang="en-US" sz="3200" b="0" i="0" dirty="0" err="1">
                <a:effectLst/>
                <a:latin typeface="Arial" panose="020B0604020202020204" pitchFamily="34" charset="0"/>
                <a:cs typeface="Arial" panose="020B0604020202020204" pitchFamily="34" charset="0"/>
              </a:rPr>
              <a:t>realizata</a:t>
            </a:r>
            <a:r>
              <a:rPr lang="en-US" sz="3200" b="0" i="0" dirty="0">
                <a:effectLst/>
                <a:latin typeface="Arial" panose="020B0604020202020204" pitchFamily="34" charset="0"/>
                <a:cs typeface="Arial" panose="020B0604020202020204" pitchFamily="34" charset="0"/>
              </a:rPr>
              <a:t> </a:t>
            </a:r>
            <a:r>
              <a:rPr lang="en-US" sz="3200" b="0" i="0" dirty="0" err="1">
                <a:effectLst/>
                <a:latin typeface="Arial" panose="020B0604020202020204" pitchFamily="34" charset="0"/>
                <a:cs typeface="Arial" panose="020B0604020202020204" pitchFamily="34" charset="0"/>
              </a:rPr>
              <a:t>conexiunea</a:t>
            </a:r>
            <a:r>
              <a:rPr lang="en-US" sz="3200" b="0" i="0" dirty="0">
                <a:effectLst/>
                <a:latin typeface="Arial" panose="020B0604020202020204" pitchFamily="34" charset="0"/>
                <a:cs typeface="Arial" panose="020B0604020202020204" pitchFamily="34" charset="0"/>
              </a:rPr>
              <a:t> </a:t>
            </a:r>
            <a:r>
              <a:rPr lang="en-US" sz="3200" b="0" i="0" dirty="0" err="1">
                <a:effectLst/>
                <a:latin typeface="Arial" panose="020B0604020202020204" pitchFamily="34" charset="0"/>
                <a:cs typeface="Arial" panose="020B0604020202020204" pitchFamily="34" charset="0"/>
              </a:rPr>
              <a:t>placutei</a:t>
            </a:r>
            <a:r>
              <a:rPr lang="en-US" sz="3200" b="0" i="0" dirty="0">
                <a:effectLst/>
                <a:latin typeface="Arial" panose="020B0604020202020204" pitchFamily="34" charset="0"/>
                <a:cs typeface="Arial" panose="020B0604020202020204" pitchFamily="34" charset="0"/>
              </a:rPr>
              <a:t> la WIFI, </a:t>
            </a:r>
            <a:r>
              <a:rPr lang="ro-RO" sz="3200" b="0" i="0" dirty="0">
                <a:effectLst/>
                <a:latin typeface="Arial" panose="020B0604020202020204" pitchFamily="34" charset="0"/>
                <a:cs typeface="Arial" panose="020B0604020202020204" pitchFamily="34" charset="0"/>
              </a:rPr>
              <a:t>urmand sa </a:t>
            </a:r>
            <a:r>
              <a:rPr lang="en-US" sz="3200" b="0" i="0" dirty="0" err="1">
                <a:effectLst/>
                <a:latin typeface="Arial" panose="020B0604020202020204" pitchFamily="34" charset="0"/>
                <a:cs typeface="Arial" panose="020B0604020202020204" pitchFamily="34" charset="0"/>
              </a:rPr>
              <a:t>obtin</a:t>
            </a:r>
            <a:r>
              <a:rPr lang="ro-RO" sz="3200" b="0" i="0" dirty="0">
                <a:effectLst/>
                <a:latin typeface="Arial" panose="020B0604020202020204" pitchFamily="34" charset="0"/>
                <a:cs typeface="Arial" panose="020B0604020202020204" pitchFamily="34" charset="0"/>
              </a:rPr>
              <a:t>a</a:t>
            </a:r>
            <a:r>
              <a:rPr lang="en-US" sz="3200" b="0" i="0" dirty="0">
                <a:effectLst/>
                <a:latin typeface="Arial" panose="020B0604020202020204" pitchFamily="34" charset="0"/>
                <a:cs typeface="Arial" panose="020B0604020202020204" pitchFamily="34" charset="0"/>
              </a:rPr>
              <a:t> </a:t>
            </a:r>
            <a:r>
              <a:rPr lang="ro-RO" sz="3200" b="0" i="0" dirty="0">
                <a:effectLst/>
                <a:latin typeface="Arial" panose="020B0604020202020204" pitchFamily="34" charset="0"/>
                <a:cs typeface="Arial" panose="020B0604020202020204" pitchFamily="34" charset="0"/>
              </a:rPr>
              <a:t>date de la un API web despre personaje din serialul "Better Call Saul". Comunicarea dintre aplicatie si ESP32 face prin schimb de date sub formatul JSON, permițând astfel flexibilitate și extensibilitate în interacțiunile între dispozitive.</a:t>
            </a:r>
            <a:br>
              <a:rPr lang="ro-RO" sz="3200" b="0" i="0" dirty="0">
                <a:effectLst/>
                <a:latin typeface="Arial" panose="020B0604020202020204" pitchFamily="34" charset="0"/>
                <a:cs typeface="Arial" panose="020B0604020202020204" pitchFamily="34" charset="0"/>
              </a:rPr>
            </a:br>
            <a:endParaRPr lang="ro-RO" sz="3200" dirty="0">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23F37DBA-F70D-0456-6E34-0C0E3823F4BB}"/>
              </a:ext>
            </a:extLst>
          </p:cNvPr>
          <p:cNvSpPr>
            <a:spLocks noGrp="1"/>
          </p:cNvSpPr>
          <p:nvPr>
            <p:ph type="body" idx="1"/>
          </p:nvPr>
        </p:nvSpPr>
        <p:spPr>
          <a:xfrm>
            <a:off x="763050" y="455676"/>
            <a:ext cx="10666950" cy="822960"/>
          </a:xfrm>
        </p:spPr>
        <p:txBody>
          <a:bodyPr>
            <a:normAutofit/>
          </a:bodyPr>
          <a:lstStyle/>
          <a:p>
            <a:r>
              <a:rPr lang="en-US" sz="4000" b="1" i="0" dirty="0" err="1">
                <a:ln w="22225">
                  <a:solidFill>
                    <a:schemeClr val="tx1"/>
                  </a:solidFill>
                  <a:miter lim="800000"/>
                </a:ln>
                <a:noFill/>
                <a:latin typeface="Arial" panose="020B0604020202020204" pitchFamily="34" charset="0"/>
                <a:cs typeface="Arial" panose="020B0604020202020204" pitchFamily="34" charset="0"/>
              </a:rPr>
              <a:t>Scopul</a:t>
            </a:r>
            <a:r>
              <a:rPr lang="en-US" sz="4000" b="1" i="0" dirty="0">
                <a:ln w="22225">
                  <a:solidFill>
                    <a:schemeClr val="tx1"/>
                  </a:solidFill>
                  <a:miter lim="800000"/>
                </a:ln>
                <a:noFill/>
                <a:latin typeface="Arial" panose="020B0604020202020204" pitchFamily="34" charset="0"/>
                <a:cs typeface="Arial" panose="020B0604020202020204" pitchFamily="34" charset="0"/>
              </a:rPr>
              <a:t> </a:t>
            </a:r>
            <a:r>
              <a:rPr lang="en-US" sz="4000" b="1" dirty="0" err="1">
                <a:ln w="22225">
                  <a:solidFill>
                    <a:schemeClr val="tx1"/>
                  </a:solidFill>
                  <a:miter lim="800000"/>
                </a:ln>
                <a:noFill/>
                <a:latin typeface="Arial" panose="020B0604020202020204" pitchFamily="34" charset="0"/>
                <a:cs typeface="Arial" panose="020B0604020202020204" pitchFamily="34" charset="0"/>
              </a:rPr>
              <a:t>proiectului</a:t>
            </a:r>
            <a:endParaRPr lang="ro-RO" sz="4000" b="1" dirty="0">
              <a:ln w="22225">
                <a:solidFill>
                  <a:schemeClr val="tx1"/>
                </a:solidFill>
                <a:miter lim="800000"/>
              </a:ln>
              <a:no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2592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pider web in the dark&#10;&#10;Description automatically generated">
            <a:extLst>
              <a:ext uri="{FF2B5EF4-FFF2-40B4-BE49-F238E27FC236}">
                <a16:creationId xmlns:a16="http://schemas.microsoft.com/office/drawing/2014/main" id="{925DC4F0-9240-0997-F120-80B985A33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90630C-E0A3-0859-A993-EF6031840017}"/>
              </a:ext>
            </a:extLst>
          </p:cNvPr>
          <p:cNvSpPr>
            <a:spLocks noGrp="1"/>
          </p:cNvSpPr>
          <p:nvPr>
            <p:ph type="title"/>
          </p:nvPr>
        </p:nvSpPr>
        <p:spPr>
          <a:xfrm>
            <a:off x="6552935" y="-241739"/>
            <a:ext cx="6778625" cy="1500188"/>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o-RO" altLang="ro-RO" sz="4000" b="1" dirty="0">
                <a:ln w="22225">
                  <a:solidFill>
                    <a:schemeClr val="tx1"/>
                  </a:solidFill>
                  <a:miter lim="800000"/>
                </a:ln>
                <a:noFill/>
                <a:latin typeface="Arial" panose="020B0604020202020204" pitchFamily="34" charset="0"/>
                <a:ea typeface="+mn-ea"/>
                <a:cs typeface="Arial" panose="020B0604020202020204" pitchFamily="34" charset="0"/>
              </a:rPr>
              <a:t>Primire date</a:t>
            </a:r>
            <a:endParaRPr lang="ro-RO" sz="4000" b="1" dirty="0">
              <a:ln w="22225">
                <a:solidFill>
                  <a:schemeClr val="tx1"/>
                </a:solidFill>
                <a:miter lim="800000"/>
              </a:ln>
              <a:noFill/>
              <a:latin typeface="Arial" panose="020B0604020202020204" pitchFamily="34" charset="0"/>
              <a:ea typeface="+mn-ea"/>
              <a:cs typeface="Arial" panose="020B0604020202020204" pitchFamily="34" charset="0"/>
            </a:endParaRPr>
          </a:p>
        </p:txBody>
      </p:sp>
      <p:pic>
        <p:nvPicPr>
          <p:cNvPr id="10" name="Picture 9">
            <a:extLst>
              <a:ext uri="{FF2B5EF4-FFF2-40B4-BE49-F238E27FC236}">
                <a16:creationId xmlns:a16="http://schemas.microsoft.com/office/drawing/2014/main" id="{4CC37853-77EF-05E0-0ED6-13EC08F51AA1}"/>
              </a:ext>
            </a:extLst>
          </p:cNvPr>
          <p:cNvPicPr>
            <a:picLocks noChangeAspect="1"/>
          </p:cNvPicPr>
          <p:nvPr/>
        </p:nvPicPr>
        <p:blipFill>
          <a:blip r:embed="rId3"/>
          <a:stretch>
            <a:fillRect/>
          </a:stretch>
        </p:blipFill>
        <p:spPr>
          <a:xfrm>
            <a:off x="180975" y="112783"/>
            <a:ext cx="4061090" cy="6632433"/>
          </a:xfrm>
          <a:prstGeom prst="rect">
            <a:avLst/>
          </a:prstGeom>
          <a:effectLst>
            <a:glow rad="241300">
              <a:schemeClr val="bg1">
                <a:lumMod val="95000"/>
                <a:lumOff val="5000"/>
              </a:schemeClr>
            </a:glow>
            <a:outerShdw blurRad="50800" dist="50800" dir="5400000" algn="ctr" rotWithShape="0">
              <a:srgbClr val="000000"/>
            </a:outerShdw>
            <a:softEdge rad="38100"/>
          </a:effectLst>
        </p:spPr>
      </p:pic>
      <p:sp>
        <p:nvSpPr>
          <p:cNvPr id="13" name="Text Placeholder 12">
            <a:extLst>
              <a:ext uri="{FF2B5EF4-FFF2-40B4-BE49-F238E27FC236}">
                <a16:creationId xmlns:a16="http://schemas.microsoft.com/office/drawing/2014/main" id="{A2243BB9-DE23-66F6-D717-20864E8AB2F9}"/>
              </a:ext>
            </a:extLst>
          </p:cNvPr>
          <p:cNvSpPr>
            <a:spLocks noGrp="1"/>
          </p:cNvSpPr>
          <p:nvPr>
            <p:ph type="body" idx="1"/>
          </p:nvPr>
        </p:nvSpPr>
        <p:spPr>
          <a:xfrm>
            <a:off x="5381624" y="1880283"/>
            <a:ext cx="6127485" cy="2964081"/>
          </a:xfrm>
        </p:spPr>
        <p:txBody>
          <a:bodyPr/>
          <a:lstStyle/>
          <a:p>
            <a:pPr marL="342900" indent="-342900" algn="just">
              <a:buFont typeface="Arial" panose="020B0604020202020204" pitchFamily="34" charset="0"/>
              <a:buChar char="•"/>
            </a:pPr>
            <a:r>
              <a:rPr lang="ro-RO" altLang="ro-RO" sz="2400" dirty="0"/>
              <a:t>Primește date prin Bluetooth și le procesează. </a:t>
            </a:r>
          </a:p>
          <a:p>
            <a:pPr marL="342900" indent="-342900" algn="just">
              <a:buFont typeface="Arial" panose="020B0604020202020204" pitchFamily="34" charset="0"/>
              <a:buChar char="•"/>
            </a:pPr>
            <a:r>
              <a:rPr lang="ro-RO" altLang="ro-RO" sz="2400" dirty="0"/>
              <a:t>În funcție de acțiunea specificată în datele JSON, apelează funcțiile corespunzătoare (Lista_Retele, Conectarea la WIFI, Obtinerea de date, Detalii suplimentare)</a:t>
            </a:r>
            <a:endParaRPr lang="ro-RO" dirty="0"/>
          </a:p>
        </p:txBody>
      </p:sp>
    </p:spTree>
    <p:extLst>
      <p:ext uri="{BB962C8B-B14F-4D97-AF65-F5344CB8AC3E}">
        <p14:creationId xmlns:p14="http://schemas.microsoft.com/office/powerpoint/2010/main" val="4203465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pider web in the dark">
            <a:extLst>
              <a:ext uri="{FF2B5EF4-FFF2-40B4-BE49-F238E27FC236}">
                <a16:creationId xmlns:a16="http://schemas.microsoft.com/office/drawing/2014/main" id="{AE4978DA-97BA-DE6C-CFD4-3286E983D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911"/>
            <a:ext cx="12192000" cy="6858000"/>
          </a:xfrm>
          <a:prstGeom prst="rect">
            <a:avLst/>
          </a:prstGeom>
        </p:spPr>
      </p:pic>
      <p:sp>
        <p:nvSpPr>
          <p:cNvPr id="2" name="Title 1">
            <a:extLst>
              <a:ext uri="{FF2B5EF4-FFF2-40B4-BE49-F238E27FC236}">
                <a16:creationId xmlns:a16="http://schemas.microsoft.com/office/drawing/2014/main" id="{6A90630C-E0A3-0859-A993-EF6031840017}"/>
              </a:ext>
            </a:extLst>
          </p:cNvPr>
          <p:cNvSpPr>
            <a:spLocks noGrp="1"/>
          </p:cNvSpPr>
          <p:nvPr>
            <p:ph type="title"/>
          </p:nvPr>
        </p:nvSpPr>
        <p:spPr>
          <a:xfrm>
            <a:off x="515821" y="186027"/>
            <a:ext cx="10515600" cy="2852737"/>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o-RO" altLang="ro-RO" sz="4000" b="1" dirty="0">
                <a:ln w="22225">
                  <a:solidFill>
                    <a:schemeClr val="tx1"/>
                  </a:solidFill>
                  <a:miter lim="800000"/>
                </a:ln>
                <a:noFill/>
                <a:latin typeface="Arial" panose="020B0604020202020204" pitchFamily="34" charset="0"/>
                <a:ea typeface="+mn-ea"/>
                <a:cs typeface="Arial" panose="020B0604020202020204" pitchFamily="34" charset="0"/>
              </a:rPr>
              <a:t>Lista Retele</a:t>
            </a:r>
            <a:br>
              <a:rPr kumimoji="0" lang="ro-RO" altLang="ro-RO" sz="4800" b="0" i="0" u="none" strike="noStrike" cap="none" normalizeH="0" baseline="0" dirty="0">
                <a:ln>
                  <a:noFill/>
                </a:ln>
                <a:solidFill>
                  <a:schemeClr val="tx1"/>
                </a:solidFill>
                <a:effectLst/>
                <a:latin typeface="Arial" panose="020B0604020202020204" pitchFamily="34" charset="0"/>
              </a:rPr>
            </a:br>
            <a:br>
              <a:rPr kumimoji="0" lang="ro-RO" altLang="ro-RO" sz="6000" b="0" i="0" u="none" strike="noStrike" cap="none" normalizeH="0" baseline="0" dirty="0">
                <a:ln>
                  <a:noFill/>
                </a:ln>
                <a:effectLst/>
                <a:latin typeface="Arial" panose="020B0604020202020204" pitchFamily="34" charset="0"/>
              </a:rPr>
            </a:br>
            <a:endParaRPr lang="ro-RO"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E541CC9-85CA-2FA3-D292-CABB7BEBF415}"/>
              </a:ext>
            </a:extLst>
          </p:cNvPr>
          <p:cNvSpPr>
            <a:spLocks noGrp="1"/>
          </p:cNvSpPr>
          <p:nvPr>
            <p:ph type="body" idx="1"/>
          </p:nvPr>
        </p:nvSpPr>
        <p:spPr>
          <a:xfrm>
            <a:off x="257911" y="1489518"/>
            <a:ext cx="5456914" cy="4659437"/>
          </a:xfrm>
        </p:spPr>
        <p:txBody>
          <a:bodyPr>
            <a:normAutofit fontScale="92500"/>
          </a:bodyPr>
          <a:lstStyle/>
          <a:p>
            <a:pPr marL="457200" indent="-457200" algn="just">
              <a:buFont typeface="Arial" panose="020B0604020202020204" pitchFamily="34" charset="0"/>
              <a:buChar char="•"/>
            </a:pPr>
            <a:r>
              <a:rPr lang="ro-RO" altLang="ro-RO" sz="3200" dirty="0"/>
              <a:t>Scanează rețelele WiFi disponibile și construiește un obiect JSON pentru fiecare rețea, incluzând SSID-ul, intensitatea semnalului, tipul de criptare și id-ul echipei.</a:t>
            </a:r>
            <a:br>
              <a:rPr lang="ro-RO" altLang="ro-RO" sz="3200" dirty="0"/>
            </a:br>
            <a:endParaRPr lang="ro-RO" altLang="ro-RO" sz="3200" dirty="0"/>
          </a:p>
          <a:p>
            <a:pPr marL="457200" indent="-457200" algn="just">
              <a:buFont typeface="Arial" panose="020B0604020202020204" pitchFamily="34" charset="0"/>
              <a:buChar char="•"/>
            </a:pPr>
            <a:r>
              <a:rPr lang="ro-RO" altLang="ro-RO" sz="3200" dirty="0"/>
              <a:t>Trimite datele JSON prin Bluetooth către dispozitivul conectat.</a:t>
            </a:r>
            <a:br>
              <a:rPr lang="ro-RO" altLang="ro-RO" dirty="0"/>
            </a:br>
            <a:endParaRPr lang="ro-RO" dirty="0"/>
          </a:p>
        </p:txBody>
      </p:sp>
      <p:pic>
        <p:nvPicPr>
          <p:cNvPr id="13" name="Picture 12">
            <a:extLst>
              <a:ext uri="{FF2B5EF4-FFF2-40B4-BE49-F238E27FC236}">
                <a16:creationId xmlns:a16="http://schemas.microsoft.com/office/drawing/2014/main" id="{A6932CE6-658B-669D-9CE3-AA5B3AEBAFB4}"/>
              </a:ext>
            </a:extLst>
          </p:cNvPr>
          <p:cNvPicPr>
            <a:picLocks noChangeAspect="1"/>
          </p:cNvPicPr>
          <p:nvPr/>
        </p:nvPicPr>
        <p:blipFill>
          <a:blip r:embed="rId3"/>
          <a:stretch>
            <a:fillRect/>
          </a:stretch>
        </p:blipFill>
        <p:spPr>
          <a:xfrm>
            <a:off x="5972735" y="1302789"/>
            <a:ext cx="5890536" cy="4801104"/>
          </a:xfrm>
          <a:prstGeom prst="rect">
            <a:avLst/>
          </a:prstGeom>
          <a:effectLst>
            <a:glow rad="317500">
              <a:schemeClr val="bg1">
                <a:lumMod val="95000"/>
                <a:lumOff val="5000"/>
              </a:schemeClr>
            </a:glow>
            <a:softEdge rad="0"/>
          </a:effectLst>
        </p:spPr>
      </p:pic>
    </p:spTree>
    <p:extLst>
      <p:ext uri="{BB962C8B-B14F-4D97-AF65-F5344CB8AC3E}">
        <p14:creationId xmlns:p14="http://schemas.microsoft.com/office/powerpoint/2010/main" val="1093430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pider web in the dark&#10;&#10;Description automatically generated">
            <a:extLst>
              <a:ext uri="{FF2B5EF4-FFF2-40B4-BE49-F238E27FC236}">
                <a16:creationId xmlns:a16="http://schemas.microsoft.com/office/drawing/2014/main" id="{771DE3EE-4DFD-5E52-0656-B95CFC406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90630C-E0A3-0859-A993-EF6031840017}"/>
              </a:ext>
            </a:extLst>
          </p:cNvPr>
          <p:cNvSpPr>
            <a:spLocks noGrp="1"/>
          </p:cNvSpPr>
          <p:nvPr>
            <p:ph type="title"/>
          </p:nvPr>
        </p:nvSpPr>
        <p:spPr>
          <a:xfrm>
            <a:off x="260350" y="-931862"/>
            <a:ext cx="10515600" cy="2852737"/>
          </a:xfrm>
        </p:spPr>
        <p:txBody>
          <a:bodyPr/>
          <a:lstStyle/>
          <a:p>
            <a:r>
              <a:rPr lang="ro-RO" altLang="ro-RO" sz="4000" b="1" dirty="0">
                <a:ln w="22225">
                  <a:solidFill>
                    <a:schemeClr val="tx1"/>
                  </a:solidFill>
                  <a:miter lim="800000"/>
                </a:ln>
                <a:noFill/>
                <a:latin typeface="Arial" panose="020B0604020202020204" pitchFamily="34" charset="0"/>
                <a:ea typeface="+mn-ea"/>
                <a:cs typeface="Arial" panose="020B0604020202020204" pitchFamily="34" charset="0"/>
              </a:rPr>
              <a:t>Conectarea la WIFI</a:t>
            </a:r>
            <a:br>
              <a:rPr kumimoji="0" lang="ro-RO" altLang="ro-RO" sz="4800" b="0" i="0" u="none" strike="noStrike" cap="none" normalizeH="0" baseline="0" dirty="0">
                <a:ln>
                  <a:noFill/>
                </a:ln>
                <a:solidFill>
                  <a:schemeClr val="tx1"/>
                </a:solidFill>
                <a:effectLst/>
                <a:latin typeface="Arial" panose="020B0604020202020204" pitchFamily="34" charset="0"/>
              </a:rPr>
            </a:br>
            <a:endParaRPr lang="ro-RO"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CDA50BA9-92ED-AE31-BD05-13CA39515297}"/>
              </a:ext>
            </a:extLst>
          </p:cNvPr>
          <p:cNvSpPr>
            <a:spLocks noGrp="1"/>
          </p:cNvSpPr>
          <p:nvPr>
            <p:ph type="body" idx="1"/>
          </p:nvPr>
        </p:nvSpPr>
        <p:spPr>
          <a:xfrm>
            <a:off x="349250" y="1828800"/>
            <a:ext cx="4997450" cy="3543300"/>
          </a:xfrm>
        </p:spPr>
        <p:txBody>
          <a:bodyPr>
            <a:normAutofit lnSpcReduction="10000"/>
          </a:bodyPr>
          <a:lstStyle/>
          <a:p>
            <a:pPr algn="just">
              <a:buFont typeface="Arial" panose="020B0604020202020204" pitchFamily="34" charset="0"/>
              <a:buChar char="•"/>
            </a:pPr>
            <a:r>
              <a:rPr lang="ro-RO" sz="3000" dirty="0"/>
              <a:t>  Încearcă să se conecteze la o rețea WiFi specificată de utilizator in aplicatie, prin SSID și parolă.</a:t>
            </a:r>
          </a:p>
          <a:p>
            <a:pPr algn="just">
              <a:buFont typeface="Arial" panose="020B0604020202020204" pitchFamily="34" charset="0"/>
              <a:buChar char="•"/>
            </a:pPr>
            <a:endParaRPr lang="ro-RO" sz="3000" dirty="0"/>
          </a:p>
          <a:p>
            <a:pPr algn="just">
              <a:buFont typeface="Arial" panose="020B0604020202020204" pitchFamily="34" charset="0"/>
              <a:buChar char="•"/>
            </a:pPr>
            <a:r>
              <a:rPr lang="ro-RO" sz="3000" dirty="0"/>
              <a:t>  Trimite rezultatul conexiunii (succes sau eșec) sub formă de JSON prin Bluetooth.</a:t>
            </a:r>
          </a:p>
          <a:p>
            <a:pPr algn="just"/>
            <a:endParaRPr lang="ro-RO" dirty="0"/>
          </a:p>
          <a:p>
            <a:pPr algn="just"/>
            <a:endParaRPr lang="ro-RO" dirty="0"/>
          </a:p>
        </p:txBody>
      </p:sp>
      <p:pic>
        <p:nvPicPr>
          <p:cNvPr id="10" name="Picture 9">
            <a:extLst>
              <a:ext uri="{FF2B5EF4-FFF2-40B4-BE49-F238E27FC236}">
                <a16:creationId xmlns:a16="http://schemas.microsoft.com/office/drawing/2014/main" id="{DD110870-A61A-EDD6-7D0F-2F0CED6FB0DB}"/>
              </a:ext>
            </a:extLst>
          </p:cNvPr>
          <p:cNvPicPr>
            <a:picLocks noChangeAspect="1"/>
          </p:cNvPicPr>
          <p:nvPr/>
        </p:nvPicPr>
        <p:blipFill>
          <a:blip r:embed="rId3"/>
          <a:stretch>
            <a:fillRect/>
          </a:stretch>
        </p:blipFill>
        <p:spPr>
          <a:xfrm>
            <a:off x="5805813" y="1505810"/>
            <a:ext cx="5927073" cy="4723540"/>
          </a:xfrm>
          <a:prstGeom prst="rect">
            <a:avLst/>
          </a:prstGeom>
          <a:effectLst>
            <a:glow rad="495300">
              <a:schemeClr val="bg1">
                <a:lumMod val="95000"/>
                <a:lumOff val="5000"/>
              </a:schemeClr>
            </a:glow>
          </a:effectLst>
        </p:spPr>
      </p:pic>
    </p:spTree>
    <p:extLst>
      <p:ext uri="{BB962C8B-B14F-4D97-AF65-F5344CB8AC3E}">
        <p14:creationId xmlns:p14="http://schemas.microsoft.com/office/powerpoint/2010/main" val="1499825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pider web in the dark&#10;&#10;Description automatically generated">
            <a:extLst>
              <a:ext uri="{FF2B5EF4-FFF2-40B4-BE49-F238E27FC236}">
                <a16:creationId xmlns:a16="http://schemas.microsoft.com/office/drawing/2014/main" id="{09D37A0A-7F72-37E9-28CA-8E2E7A4B12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575"/>
            <a:ext cx="12192000" cy="6858000"/>
          </a:xfrm>
          <a:prstGeom prst="rect">
            <a:avLst/>
          </a:prstGeom>
        </p:spPr>
      </p:pic>
      <p:sp>
        <p:nvSpPr>
          <p:cNvPr id="2" name="Title 1">
            <a:extLst>
              <a:ext uri="{FF2B5EF4-FFF2-40B4-BE49-F238E27FC236}">
                <a16:creationId xmlns:a16="http://schemas.microsoft.com/office/drawing/2014/main" id="{6A90630C-E0A3-0859-A993-EF6031840017}"/>
              </a:ext>
            </a:extLst>
          </p:cNvPr>
          <p:cNvSpPr>
            <a:spLocks noGrp="1"/>
          </p:cNvSpPr>
          <p:nvPr>
            <p:ph type="title"/>
          </p:nvPr>
        </p:nvSpPr>
        <p:spPr>
          <a:xfrm>
            <a:off x="3475855" y="314326"/>
            <a:ext cx="10515600" cy="1085850"/>
          </a:xfrm>
        </p:spPr>
        <p:txBody>
          <a:bodyPr>
            <a:normAutofit fontScale="90000"/>
          </a:bodyPr>
          <a:lstStyle/>
          <a:p>
            <a:pPr algn="ctr"/>
            <a:r>
              <a:rPr lang="ro-RO" altLang="ro-RO" sz="4400" b="1" dirty="0">
                <a:ln w="22225">
                  <a:solidFill>
                    <a:schemeClr val="tx1"/>
                  </a:solidFill>
                  <a:miter lim="800000"/>
                </a:ln>
                <a:noFill/>
                <a:latin typeface="Arial" panose="020B0604020202020204" pitchFamily="34" charset="0"/>
                <a:ea typeface="+mn-ea"/>
                <a:cs typeface="Arial" panose="020B0604020202020204" pitchFamily="34" charset="0"/>
              </a:rPr>
              <a:t>Obtinerea date din API</a:t>
            </a:r>
            <a:br>
              <a:rPr kumimoji="0" lang="ro-RO" altLang="ro-RO" sz="4000" b="0" i="0" u="none" strike="noStrike" cap="none" normalizeH="0" baseline="0" dirty="0">
                <a:ln>
                  <a:noFill/>
                </a:ln>
                <a:solidFill>
                  <a:schemeClr val="tx1"/>
                </a:solidFill>
                <a:effectLst/>
                <a:latin typeface="Arial" panose="020B0604020202020204" pitchFamily="34" charset="0"/>
              </a:rPr>
            </a:br>
            <a:endParaRPr lang="ro-RO" sz="4000" dirty="0">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E1E084A4-C96B-1EB2-56B5-A22EF56EB158}"/>
              </a:ext>
            </a:extLst>
          </p:cNvPr>
          <p:cNvSpPr>
            <a:spLocks noGrp="1"/>
          </p:cNvSpPr>
          <p:nvPr>
            <p:ph type="body" idx="1"/>
          </p:nvPr>
        </p:nvSpPr>
        <p:spPr>
          <a:xfrm>
            <a:off x="5519624" y="1400176"/>
            <a:ext cx="5877514" cy="4397373"/>
          </a:xfrm>
        </p:spPr>
        <p:txBody>
          <a:bodyPr>
            <a:normAutofit fontScale="92500" lnSpcReduction="10000"/>
          </a:bodyPr>
          <a:lstStyle/>
          <a:p>
            <a:pPr algn="just">
              <a:buFont typeface="+mj-lt"/>
              <a:buAutoNum type="arabicPeriod"/>
            </a:pPr>
            <a:endParaRPr lang="ro-RO" dirty="0"/>
          </a:p>
          <a:p>
            <a:pPr marL="914400" lvl="1" indent="-457200" algn="just">
              <a:buFont typeface="Arial" panose="020B0604020202020204" pitchFamily="34" charset="0"/>
              <a:buChar char="•"/>
            </a:pPr>
            <a:r>
              <a:rPr lang="ro-RO" sz="3200" dirty="0"/>
              <a:t>Realizează o cerere GET către un API pentru a obține o listă de personaje din serialul "Better Call Saul".</a:t>
            </a:r>
          </a:p>
          <a:p>
            <a:pPr marL="914400" lvl="1" indent="-457200" algn="just">
              <a:buFont typeface="Arial" panose="020B0604020202020204" pitchFamily="34" charset="0"/>
              <a:buChar char="•"/>
            </a:pPr>
            <a:endParaRPr lang="ro-RO" sz="3200" dirty="0"/>
          </a:p>
          <a:p>
            <a:pPr marL="914400" lvl="1" indent="-457200" algn="just">
              <a:buFont typeface="Arial" panose="020B0604020202020204" pitchFamily="34" charset="0"/>
              <a:buChar char="•"/>
            </a:pPr>
            <a:r>
              <a:rPr lang="ro-RO" sz="3200" dirty="0"/>
              <a:t>Trimite datele fiecărui personaj sub formă de JSON prin Bluetooth.</a:t>
            </a:r>
          </a:p>
          <a:p>
            <a:pPr algn="just"/>
            <a:br>
              <a:rPr lang="ro-RO" sz="3200" dirty="0"/>
            </a:br>
            <a:endParaRPr lang="ro-RO" sz="3200" dirty="0"/>
          </a:p>
        </p:txBody>
      </p:sp>
      <p:pic>
        <p:nvPicPr>
          <p:cNvPr id="15" name="Picture 14">
            <a:extLst>
              <a:ext uri="{FF2B5EF4-FFF2-40B4-BE49-F238E27FC236}">
                <a16:creationId xmlns:a16="http://schemas.microsoft.com/office/drawing/2014/main" id="{91E66C03-33A6-C303-2A77-B24B326EC776}"/>
              </a:ext>
            </a:extLst>
          </p:cNvPr>
          <p:cNvPicPr>
            <a:picLocks noChangeAspect="1"/>
          </p:cNvPicPr>
          <p:nvPr/>
        </p:nvPicPr>
        <p:blipFill>
          <a:blip r:embed="rId3"/>
          <a:stretch>
            <a:fillRect/>
          </a:stretch>
        </p:blipFill>
        <p:spPr>
          <a:xfrm>
            <a:off x="0" y="0"/>
            <a:ext cx="5275310" cy="6858000"/>
          </a:xfrm>
          <a:prstGeom prst="rect">
            <a:avLst/>
          </a:prstGeom>
          <a:effectLst>
            <a:glow rad="1041400">
              <a:schemeClr val="bg1">
                <a:lumMod val="95000"/>
                <a:lumOff val="5000"/>
              </a:schemeClr>
            </a:glow>
          </a:effectLst>
        </p:spPr>
      </p:pic>
    </p:spTree>
    <p:extLst>
      <p:ext uri="{BB962C8B-B14F-4D97-AF65-F5344CB8AC3E}">
        <p14:creationId xmlns:p14="http://schemas.microsoft.com/office/powerpoint/2010/main" val="1382818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pider web in the dark&#10;&#10;Description automatically generated">
            <a:extLst>
              <a:ext uri="{FF2B5EF4-FFF2-40B4-BE49-F238E27FC236}">
                <a16:creationId xmlns:a16="http://schemas.microsoft.com/office/drawing/2014/main" id="{A1472441-C4FA-6C5A-E449-87C99F8FE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90630C-E0A3-0859-A993-EF6031840017}"/>
              </a:ext>
            </a:extLst>
          </p:cNvPr>
          <p:cNvSpPr>
            <a:spLocks noGrp="1"/>
          </p:cNvSpPr>
          <p:nvPr>
            <p:ph type="title"/>
          </p:nvPr>
        </p:nvSpPr>
        <p:spPr>
          <a:xfrm>
            <a:off x="319467" y="332512"/>
            <a:ext cx="8410978" cy="1095375"/>
          </a:xfrm>
        </p:spPr>
        <p:txBody>
          <a:bodyPr>
            <a:normAutofit fontScale="90000"/>
          </a:bodyPr>
          <a:lstStyle/>
          <a:p>
            <a:r>
              <a:rPr lang="ro-RO" sz="4000" b="1" dirty="0">
                <a:ln w="22225">
                  <a:solidFill>
                    <a:schemeClr val="tx1"/>
                  </a:solidFill>
                  <a:miter lim="800000"/>
                </a:ln>
                <a:noFill/>
                <a:latin typeface="Arial" panose="020B0604020202020204" pitchFamily="34" charset="0"/>
                <a:ea typeface="+mn-ea"/>
                <a:cs typeface="Arial" panose="020B0604020202020204" pitchFamily="34" charset="0"/>
              </a:rPr>
              <a:t>Lista de </a:t>
            </a:r>
            <a:r>
              <a:rPr lang="en-US" sz="4000" b="1" dirty="0" err="1">
                <a:ln w="22225">
                  <a:solidFill>
                    <a:schemeClr val="tx1"/>
                  </a:solidFill>
                  <a:miter lim="800000"/>
                </a:ln>
                <a:noFill/>
                <a:latin typeface="Arial" panose="020B0604020202020204" pitchFamily="34" charset="0"/>
                <a:ea typeface="+mn-ea"/>
                <a:cs typeface="Arial" panose="020B0604020202020204" pitchFamily="34" charset="0"/>
              </a:rPr>
              <a:t>obiecte</a:t>
            </a:r>
            <a:r>
              <a:rPr lang="en-US" sz="4000" b="1" dirty="0">
                <a:ln w="22225">
                  <a:solidFill>
                    <a:schemeClr val="tx1"/>
                  </a:solidFill>
                  <a:miter lim="800000"/>
                </a:ln>
                <a:noFill/>
                <a:latin typeface="Arial" panose="020B0604020202020204" pitchFamily="34" charset="0"/>
                <a:ea typeface="+mn-ea"/>
                <a:cs typeface="Arial" panose="020B0604020202020204" pitchFamily="34" charset="0"/>
              </a:rPr>
              <a:t> </a:t>
            </a:r>
            <a:r>
              <a:rPr lang="ro-RO" sz="4000" b="1" dirty="0">
                <a:ln w="22225">
                  <a:solidFill>
                    <a:schemeClr val="tx1"/>
                  </a:solidFill>
                  <a:miter lim="800000"/>
                </a:ln>
                <a:noFill/>
                <a:latin typeface="Arial" panose="020B0604020202020204" pitchFamily="34" charset="0"/>
                <a:ea typeface="+mn-ea"/>
                <a:cs typeface="Arial" panose="020B0604020202020204" pitchFamily="34" charset="0"/>
              </a:rPr>
              <a:t>obtinuta dupa conectarea la WIFI</a:t>
            </a:r>
          </a:p>
        </p:txBody>
      </p:sp>
      <p:sp>
        <p:nvSpPr>
          <p:cNvPr id="8" name="Text Placeholder 7">
            <a:extLst>
              <a:ext uri="{FF2B5EF4-FFF2-40B4-BE49-F238E27FC236}">
                <a16:creationId xmlns:a16="http://schemas.microsoft.com/office/drawing/2014/main" id="{C86EEB3A-FF16-EC3D-3210-30CD6D5122D5}"/>
              </a:ext>
            </a:extLst>
          </p:cNvPr>
          <p:cNvSpPr>
            <a:spLocks noGrp="1"/>
          </p:cNvSpPr>
          <p:nvPr>
            <p:ph type="body" idx="1"/>
          </p:nvPr>
        </p:nvSpPr>
        <p:spPr>
          <a:xfrm>
            <a:off x="319467" y="1998663"/>
            <a:ext cx="7836705" cy="1500187"/>
          </a:xfrm>
        </p:spPr>
        <p:txBody>
          <a:bodyPr/>
          <a:lstStyle/>
          <a:p>
            <a:pPr algn="just"/>
            <a:r>
              <a:rPr lang="en-US" dirty="0"/>
              <a:t>	</a:t>
            </a:r>
            <a:r>
              <a:rPr lang="ro-RO" dirty="0"/>
              <a:t>Aceasta contine informatii despre personaje</a:t>
            </a:r>
            <a:r>
              <a:rPr lang="en-US" dirty="0"/>
              <a:t>, </a:t>
            </a:r>
            <a:r>
              <a:rPr lang="en-US" dirty="0" err="1"/>
              <a:t>mai</a:t>
            </a:r>
            <a:r>
              <a:rPr lang="en-US" dirty="0"/>
              <a:t> precis </a:t>
            </a:r>
            <a:r>
              <a:rPr lang="en-US" dirty="0" err="1"/>
              <a:t>numele</a:t>
            </a:r>
            <a:r>
              <a:rPr lang="en-US" dirty="0"/>
              <a:t> </a:t>
            </a:r>
            <a:r>
              <a:rPr lang="en-US" dirty="0" err="1"/>
              <a:t>personajelor</a:t>
            </a:r>
            <a:r>
              <a:rPr lang="en-US" dirty="0"/>
              <a:t>, </a:t>
            </a:r>
            <a:r>
              <a:rPr lang="en-US" dirty="0" err="1"/>
              <a:t>poze</a:t>
            </a:r>
            <a:r>
              <a:rPr lang="en-US" dirty="0"/>
              <a:t> </a:t>
            </a:r>
            <a:r>
              <a:rPr lang="en-US" dirty="0" err="1"/>
              <a:t>si</a:t>
            </a:r>
            <a:r>
              <a:rPr lang="en-US" dirty="0"/>
              <a:t> id-</a:t>
            </a:r>
            <a:r>
              <a:rPr lang="en-US" dirty="0" err="1"/>
              <a:t>uri</a:t>
            </a:r>
            <a:r>
              <a:rPr lang="en-US" dirty="0"/>
              <a:t> </a:t>
            </a:r>
            <a:r>
              <a:rPr lang="en-US" dirty="0" err="1"/>
              <a:t>necesare</a:t>
            </a:r>
            <a:r>
              <a:rPr lang="en-US" dirty="0"/>
              <a:t> </a:t>
            </a:r>
            <a:r>
              <a:rPr lang="en-US" dirty="0" err="1"/>
              <a:t>pentru</a:t>
            </a:r>
            <a:r>
              <a:rPr lang="en-US" dirty="0"/>
              <a:t> </a:t>
            </a:r>
            <a:r>
              <a:rPr lang="en-US" dirty="0" err="1"/>
              <a:t>urmatoarea</a:t>
            </a:r>
            <a:r>
              <a:rPr lang="en-US" dirty="0"/>
              <a:t> </a:t>
            </a:r>
            <a:r>
              <a:rPr lang="en-US" dirty="0" err="1"/>
              <a:t>etapa</a:t>
            </a:r>
            <a:r>
              <a:rPr lang="en-US" dirty="0"/>
              <a:t>.</a:t>
            </a:r>
            <a:endParaRPr lang="ro-RO" dirty="0"/>
          </a:p>
        </p:txBody>
      </p:sp>
      <p:pic>
        <p:nvPicPr>
          <p:cNvPr id="10" name="Picture 9">
            <a:extLst>
              <a:ext uri="{FF2B5EF4-FFF2-40B4-BE49-F238E27FC236}">
                <a16:creationId xmlns:a16="http://schemas.microsoft.com/office/drawing/2014/main" id="{A0D833BA-2607-7FCE-4A0E-CC7B475D7160}"/>
              </a:ext>
            </a:extLst>
          </p:cNvPr>
          <p:cNvPicPr>
            <a:picLocks noChangeAspect="1"/>
          </p:cNvPicPr>
          <p:nvPr/>
        </p:nvPicPr>
        <p:blipFill>
          <a:blip r:embed="rId3"/>
          <a:stretch>
            <a:fillRect/>
          </a:stretch>
        </p:blipFill>
        <p:spPr>
          <a:xfrm>
            <a:off x="8730847" y="337706"/>
            <a:ext cx="2886478" cy="6182588"/>
          </a:xfrm>
          <a:prstGeom prst="rect">
            <a:avLst/>
          </a:prstGeom>
          <a:effectLst>
            <a:glow rad="393700">
              <a:schemeClr val="tx1"/>
            </a:glow>
          </a:effectLst>
        </p:spPr>
      </p:pic>
    </p:spTree>
    <p:extLst>
      <p:ext uri="{BB962C8B-B14F-4D97-AF65-F5344CB8AC3E}">
        <p14:creationId xmlns:p14="http://schemas.microsoft.com/office/powerpoint/2010/main" val="1224737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pider web in the dark&#10;&#10;Description automatically generated">
            <a:extLst>
              <a:ext uri="{FF2B5EF4-FFF2-40B4-BE49-F238E27FC236}">
                <a16:creationId xmlns:a16="http://schemas.microsoft.com/office/drawing/2014/main" id="{AC4E91F7-F787-F8E9-9A6C-96B4C73C0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90630C-E0A3-0859-A993-EF6031840017}"/>
              </a:ext>
            </a:extLst>
          </p:cNvPr>
          <p:cNvSpPr>
            <a:spLocks noGrp="1"/>
          </p:cNvSpPr>
          <p:nvPr>
            <p:ph type="title"/>
          </p:nvPr>
        </p:nvSpPr>
        <p:spPr>
          <a:xfrm>
            <a:off x="3152321" y="211931"/>
            <a:ext cx="10515600" cy="1647825"/>
          </a:xfrm>
        </p:spPr>
        <p:txBody>
          <a:bodyPr/>
          <a:lstStyle/>
          <a:p>
            <a:r>
              <a:rPr lang="ro-RO" altLang="ro-RO" sz="4000" b="1" dirty="0">
                <a:ln w="22225">
                  <a:solidFill>
                    <a:schemeClr val="tx1"/>
                  </a:solidFill>
                  <a:miter lim="800000"/>
                </a:ln>
                <a:noFill/>
                <a:latin typeface="Arial" panose="020B0604020202020204" pitchFamily="34" charset="0"/>
                <a:ea typeface="+mn-ea"/>
                <a:cs typeface="Arial" panose="020B0604020202020204" pitchFamily="34" charset="0"/>
              </a:rPr>
              <a:t>Detalii suplimentare</a:t>
            </a:r>
            <a:br>
              <a:rPr kumimoji="0" lang="ro-RO" altLang="ro-RO" sz="4800" b="0" i="0" u="none" strike="noStrike" cap="none" normalizeH="0" baseline="0" dirty="0">
                <a:ln>
                  <a:noFill/>
                </a:ln>
                <a:solidFill>
                  <a:schemeClr val="tx1"/>
                </a:solidFill>
                <a:effectLst/>
                <a:latin typeface="Arial" panose="020B0604020202020204" pitchFamily="34" charset="0"/>
              </a:rPr>
            </a:br>
            <a:endParaRPr lang="ro-RO" dirty="0">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3684C631-6147-E876-23CC-C2936CD57A60}"/>
              </a:ext>
            </a:extLst>
          </p:cNvPr>
          <p:cNvSpPr>
            <a:spLocks noGrp="1"/>
          </p:cNvSpPr>
          <p:nvPr>
            <p:ph type="body" idx="1"/>
          </p:nvPr>
        </p:nvSpPr>
        <p:spPr>
          <a:xfrm>
            <a:off x="908050" y="3719513"/>
            <a:ext cx="10515600" cy="1500187"/>
          </a:xfrm>
        </p:spPr>
        <p:txBody>
          <a:bodyPr/>
          <a:lstStyle/>
          <a:p>
            <a:endParaRPr lang="ro-RO" dirty="0"/>
          </a:p>
        </p:txBody>
      </p:sp>
      <p:pic>
        <p:nvPicPr>
          <p:cNvPr id="11" name="Picture 10">
            <a:extLst>
              <a:ext uri="{FF2B5EF4-FFF2-40B4-BE49-F238E27FC236}">
                <a16:creationId xmlns:a16="http://schemas.microsoft.com/office/drawing/2014/main" id="{C36D5ECF-6069-EF63-9883-3F47BCA21037}"/>
              </a:ext>
            </a:extLst>
          </p:cNvPr>
          <p:cNvPicPr>
            <a:picLocks noChangeAspect="1"/>
          </p:cNvPicPr>
          <p:nvPr/>
        </p:nvPicPr>
        <p:blipFill>
          <a:blip r:embed="rId3"/>
          <a:stretch>
            <a:fillRect/>
          </a:stretch>
        </p:blipFill>
        <p:spPr>
          <a:xfrm>
            <a:off x="404793" y="1054114"/>
            <a:ext cx="5458587" cy="5591955"/>
          </a:xfrm>
          <a:prstGeom prst="rect">
            <a:avLst/>
          </a:prstGeom>
          <a:effectLst>
            <a:glow rad="228600">
              <a:schemeClr val="bg1">
                <a:lumMod val="95000"/>
                <a:lumOff val="5000"/>
              </a:schemeClr>
            </a:glow>
          </a:effectLst>
        </p:spPr>
      </p:pic>
      <p:pic>
        <p:nvPicPr>
          <p:cNvPr id="13" name="Picture 12">
            <a:extLst>
              <a:ext uri="{FF2B5EF4-FFF2-40B4-BE49-F238E27FC236}">
                <a16:creationId xmlns:a16="http://schemas.microsoft.com/office/drawing/2014/main" id="{AC57D006-42EB-60F7-26CA-D3D2999874C8}"/>
              </a:ext>
            </a:extLst>
          </p:cNvPr>
          <p:cNvPicPr>
            <a:picLocks noChangeAspect="1"/>
          </p:cNvPicPr>
          <p:nvPr/>
        </p:nvPicPr>
        <p:blipFill>
          <a:blip r:embed="rId4"/>
          <a:stretch>
            <a:fillRect/>
          </a:stretch>
        </p:blipFill>
        <p:spPr>
          <a:xfrm>
            <a:off x="6268173" y="1035843"/>
            <a:ext cx="5645518" cy="5591955"/>
          </a:xfrm>
          <a:prstGeom prst="rect">
            <a:avLst/>
          </a:prstGeom>
          <a:effectLst>
            <a:glow rad="228600">
              <a:schemeClr val="bg1">
                <a:lumMod val="95000"/>
                <a:lumOff val="5000"/>
              </a:schemeClr>
            </a:glow>
          </a:effectLst>
        </p:spPr>
      </p:pic>
    </p:spTree>
    <p:extLst>
      <p:ext uri="{BB962C8B-B14F-4D97-AF65-F5344CB8AC3E}">
        <p14:creationId xmlns:p14="http://schemas.microsoft.com/office/powerpoint/2010/main" val="916874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pider web in the dark&#10;&#10;Description automatically generated">
            <a:extLst>
              <a:ext uri="{FF2B5EF4-FFF2-40B4-BE49-F238E27FC236}">
                <a16:creationId xmlns:a16="http://schemas.microsoft.com/office/drawing/2014/main" id="{AC4E91F7-F787-F8E9-9A6C-96B4C73C0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90630C-E0A3-0859-A993-EF6031840017}"/>
              </a:ext>
            </a:extLst>
          </p:cNvPr>
          <p:cNvSpPr>
            <a:spLocks noGrp="1"/>
          </p:cNvSpPr>
          <p:nvPr>
            <p:ph type="title"/>
          </p:nvPr>
        </p:nvSpPr>
        <p:spPr>
          <a:xfrm>
            <a:off x="3152321" y="211931"/>
            <a:ext cx="10515600" cy="1647825"/>
          </a:xfrm>
        </p:spPr>
        <p:txBody>
          <a:bodyPr/>
          <a:lstStyle/>
          <a:p>
            <a:r>
              <a:rPr lang="ro-RO" altLang="ro-RO" sz="4000" b="1" dirty="0">
                <a:ln w="22225">
                  <a:solidFill>
                    <a:schemeClr val="tx1"/>
                  </a:solidFill>
                  <a:miter lim="800000"/>
                </a:ln>
                <a:noFill/>
                <a:latin typeface="Arial" panose="020B0604020202020204" pitchFamily="34" charset="0"/>
                <a:ea typeface="+mn-ea"/>
                <a:cs typeface="Arial" panose="020B0604020202020204" pitchFamily="34" charset="0"/>
              </a:rPr>
              <a:t>Detalii suplimentare</a:t>
            </a:r>
            <a:br>
              <a:rPr kumimoji="0" lang="ro-RO" altLang="ro-RO" sz="4800" b="0" i="0" u="none" strike="noStrike" cap="none" normalizeH="0" baseline="0" dirty="0">
                <a:ln>
                  <a:noFill/>
                </a:ln>
                <a:solidFill>
                  <a:schemeClr val="tx1"/>
                </a:solidFill>
                <a:effectLst/>
                <a:latin typeface="Arial" panose="020B0604020202020204" pitchFamily="34" charset="0"/>
              </a:rPr>
            </a:br>
            <a:endParaRPr lang="ro-RO" dirty="0">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3684C631-6147-E876-23CC-C2936CD57A60}"/>
              </a:ext>
            </a:extLst>
          </p:cNvPr>
          <p:cNvSpPr>
            <a:spLocks noGrp="1"/>
          </p:cNvSpPr>
          <p:nvPr>
            <p:ph type="body" idx="1"/>
          </p:nvPr>
        </p:nvSpPr>
        <p:spPr>
          <a:xfrm>
            <a:off x="450850" y="1321593"/>
            <a:ext cx="10515600" cy="1500187"/>
          </a:xfrm>
        </p:spPr>
        <p:txBody>
          <a:bodyPr>
            <a:normAutofit fontScale="77500" lnSpcReduction="20000"/>
          </a:bodyPr>
          <a:lstStyle/>
          <a:p>
            <a:pPr algn="just">
              <a:buFont typeface="Arial" panose="020B0604020202020204" pitchFamily="34" charset="0"/>
              <a:buChar char="•"/>
            </a:pPr>
            <a:r>
              <a:rPr lang="ro-RO" sz="3500" dirty="0"/>
              <a:t>Realizează o cerere GET către un API pentru a obține detalii suplimentare despre un personaj specificat prin ID.</a:t>
            </a:r>
          </a:p>
          <a:p>
            <a:pPr algn="just">
              <a:buFont typeface="Arial" panose="020B0604020202020204" pitchFamily="34" charset="0"/>
              <a:buChar char="•"/>
            </a:pPr>
            <a:endParaRPr lang="ro-RO" sz="3500" dirty="0"/>
          </a:p>
          <a:p>
            <a:pPr algn="just">
              <a:buFont typeface="Arial" panose="020B0604020202020204" pitchFamily="34" charset="0"/>
              <a:buChar char="•"/>
            </a:pPr>
            <a:r>
              <a:rPr lang="ro-RO" sz="3500" dirty="0"/>
              <a:t>Construiește și trimite un JSON detaliat prin Bluetooth.</a:t>
            </a:r>
          </a:p>
          <a:p>
            <a:pPr algn="just"/>
            <a:endParaRPr lang="ro-RO" dirty="0"/>
          </a:p>
        </p:txBody>
      </p:sp>
    </p:spTree>
    <p:extLst>
      <p:ext uri="{BB962C8B-B14F-4D97-AF65-F5344CB8AC3E}">
        <p14:creationId xmlns:p14="http://schemas.microsoft.com/office/powerpoint/2010/main" val="2771213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3D53B74-00AC-45CD-B2C6-3A446A53DB21}">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E7B8F156F1504BA4B465F46C4D1FB7" ma:contentTypeVersion="4" ma:contentTypeDescription="Create a new document." ma:contentTypeScope="" ma:versionID="1266825d974e86dc9cd8767e84a59f88">
  <xsd:schema xmlns:xsd="http://www.w3.org/2001/XMLSchema" xmlns:xs="http://www.w3.org/2001/XMLSchema" xmlns:p="http://schemas.microsoft.com/office/2006/metadata/properties" xmlns:ns3="98358427-f173-4cc8-9b7c-ac3d4ebfe866" targetNamespace="http://schemas.microsoft.com/office/2006/metadata/properties" ma:root="true" ma:fieldsID="d009cedd990f11aed5afee5dd76a6862" ns3:_="">
    <xsd:import namespace="98358427-f173-4cc8-9b7c-ac3d4ebfe866"/>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358427-f173-4cc8-9b7c-ac3d4ebfe8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10D987-CD84-4AE7-A1B5-CE9B261C3F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358427-f173-4cc8-9b7c-ac3d4ebfe8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93F39D4-BFA9-4D56-991B-3FD6F6F54B9B}">
  <ds:schemaRefs>
    <ds:schemaRef ds:uri="http://schemas.microsoft.com/sharepoint/v3/contenttype/forms"/>
  </ds:schemaRefs>
</ds:datastoreItem>
</file>

<file path=customXml/itemProps3.xml><?xml version="1.0" encoding="utf-8"?>
<ds:datastoreItem xmlns:ds="http://schemas.openxmlformats.org/officeDocument/2006/customXml" ds:itemID="{DA1C4474-BA31-467C-9025-3D482AA5657D}">
  <ds:schemaRefs>
    <ds:schemaRef ds:uri="http://schemas.microsoft.com/office/2006/documentManagement/types"/>
    <ds:schemaRef ds:uri="http://schemas.microsoft.com/office/2006/metadata/properties"/>
    <ds:schemaRef ds:uri="http://schemas.microsoft.com/office/infopath/2007/PartnerControls"/>
    <ds:schemaRef ds:uri="http://purl.org/dc/dcmitype/"/>
    <ds:schemaRef ds:uri="98358427-f173-4cc8-9b7c-ac3d4ebfe866"/>
    <ds:schemaRef ds:uri="http://schemas.openxmlformats.org/package/2006/metadata/core-properties"/>
    <ds:schemaRef ds:uri="http://purl.org/dc/term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272</TotalTime>
  <Words>312</Words>
  <Application>Microsoft Office PowerPoint</Application>
  <PresentationFormat>Widescreen</PresentationFormat>
  <Paragraphs>29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Better Call Saul API using Bluetooth Classic</vt:lpstr>
      <vt:lpstr>          Acest proiect presupune conectarea telefonului mobil prin intermediul Bluetooth la aplicatia “Proiect IA” prin care este realizata conexiunea placutei la WIFI, urmand sa obtina date de la un API web despre personaje din serialul "Better Call Saul". Comunicarea dintre aplicatie si ESP32 face prin schimb de date sub formatul JSON, permițând astfel flexibilitate și extensibilitate în interacțiunile între dispozitive. </vt:lpstr>
      <vt:lpstr>Primire date</vt:lpstr>
      <vt:lpstr>Lista Retele  </vt:lpstr>
      <vt:lpstr>Conectarea la WIFI </vt:lpstr>
      <vt:lpstr>Obtinerea date din API </vt:lpstr>
      <vt:lpstr>Lista de obiecte obtinuta dupa conectarea la WIFI</vt:lpstr>
      <vt:lpstr>Detalii suplimentare </vt:lpstr>
      <vt:lpstr>Detalii suplimentare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Better Call Saul API using Bluetooth Classic</dc:title>
  <dc:creator>Eduard VINCENE (139562)</dc:creator>
  <cp:lastModifiedBy>Dark Shadow</cp:lastModifiedBy>
  <cp:revision>4</cp:revision>
  <dcterms:created xsi:type="dcterms:W3CDTF">2024-05-18T10:13:59Z</dcterms:created>
  <dcterms:modified xsi:type="dcterms:W3CDTF">2024-05-19T19:27:28Z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0x010100CDE7B8F156F1504BA4B465F46C4D1FB7</vt:lpwstr>
  </property>
</Properties>
</file>